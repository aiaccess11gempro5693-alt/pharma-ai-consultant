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Открываем: идея — один AI-консультант по продукту для всех аудиторий, но с жёстким контролем формулировок. Показываем на их реальном продукте, чтобы разговор был предметным.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 не в отсутствии информации, а в разнобое формулировок. Для БАД особенно чувствительно: любое «лечит» или «гарантирует» — нарушение закона о рекламе.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Важно: это не четыре бота, а одна база с тегами аудитории. Аудитории пересекаются на 60–70%, различается глубина и тон.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Ключевой слайд. Юристы подписывают не сотни ответов, а список фактов. Модель меняет только связки и стиль — факты, цифры и обещания берутся строго из списка.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Показываем, что атомы — это буквально текст с этикетки, разложенный по полочкам. Для БАД объём значительно меньше, чем для лекарства: одна этикетка ≈ 30 фактов, плюс материалы бренда. Бренд-атомы переиспользуются во всей линейке.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Метки атомов пользователь не видит — они для контроля и аудита. Третий пример показывает, что бот не отказывает грубо, а корректно уводит к специалисту.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Контроль архитектурный, а не «попросили модель быть аккуратной». Последний контроль — детерминированное правило, а не нейросеть.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БАД регуляторика проще, чем для лекарств (нет ОХЛП и фармаконадзора в полном объёме), но требования закона о рекламе к БАД жёсткие. Здесь мы не даём юридическое заключение — предлагаем правила, которые их юристы утвердят.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бренда, который продаётся в основном через маркетплейсы, быстрый выигрыш — ответы на вопросы в карточках. Для аптечного канала — справочник фармацевта. Стоит спросить, какой канал для них приоритетный.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Самое долгое — согласование, не разработка. Сроки ориентировочные и зависят от того, как быстро работают их юристы.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Закрываем встречу списком конкретных шагов. Идеально — договориться о продукте, канале и контакте в юротделе.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E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3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 ACTIVE  ×  AI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Умный консультант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продукту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6616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5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чат-ассистент для покупателей, фармацевтов, врачей и медпредставителей — который говорит только согласованными формулировками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1206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на примере: Комплекс для кожи, волос и ногтей с пиперином, 120 капсул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823960" y="1097280"/>
            <a:ext cx="1737360" cy="685800"/>
          </a:xfrm>
          <a:prstGeom prst="roundRect">
            <a:avLst>
              <a:gd name="adj" fmla="val 16000"/>
            </a:avLst>
          </a:prstGeom>
          <a:solidFill>
            <a:srgbClr val="1A1210"/>
          </a:solidFill>
          <a:ln w="12700">
            <a:solidFill>
              <a:srgbClr val="1A121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1691640"/>
            <a:ext cx="2560320" cy="39319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0" y="2560320"/>
            <a:ext cx="2560320" cy="2286000"/>
          </a:xfrm>
          <a:prstGeom prst="rect">
            <a:avLst/>
          </a:prstGeom>
          <a:solidFill>
            <a:srgbClr val="C8646E"/>
          </a:solidFill>
          <a:ln w="12700">
            <a:solidFill>
              <a:srgbClr val="C864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49640" y="265176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Кожа · Волосы · Ногти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биобустер пиперин</a:t>
            </a:r>
            <a:endParaRPr lang="en-US" sz="13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в 1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веган-капсул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rot="-1500000">
            <a:off x="7680960" y="484632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800000">
            <a:off x="10881360" y="91440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C8646E"/>
          </a:solidFill>
          <a:ln w="12700">
            <a:solidFill>
              <a:srgbClr val="C864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3600000">
            <a:off x="10972800" y="539496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E5D6D3"/>
          </a:solidFill>
          <a:ln w="12700">
            <a:solidFill>
              <a:srgbClr val="E5D6D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ЭТО НУЖНО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 о продукте приходят отовсюду — ответы должны быть одинаково точными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3017520"/>
          </a:xfrm>
          <a:prstGeom prst="roundRect">
            <a:avLst>
              <a:gd name="adj" fmla="val 7576"/>
            </a:avLst>
          </a:prstGeom>
          <a:solidFill>
            <a:srgbClr val="F8E6E6"/>
          </a:solidFill>
          <a:ln w="12700">
            <a:solidFill>
              <a:srgbClr val="F8E6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286000"/>
            <a:ext cx="731520" cy="731520"/>
          </a:xfrm>
          <a:prstGeom prst="ellipse">
            <a:avLst/>
          </a:prstGeom>
          <a:solidFill>
            <a:srgbClr val="C8646E"/>
          </a:solidFill>
          <a:ln w="12700">
            <a:solidFill>
              <a:srgbClr val="C8646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4688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200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Маркетплейсы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7033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в карточках Ozon и Wildberries: «как принимать», «можно ли с другими витаминами», «когда эффект»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89120" y="2011680"/>
            <a:ext cx="3474720" cy="3017520"/>
          </a:xfrm>
          <a:prstGeom prst="roundRect">
            <a:avLst>
              <a:gd name="adj" fmla="val 7576"/>
            </a:avLst>
          </a:prstGeom>
          <a:solidFill>
            <a:srgbClr val="F8E6E6"/>
          </a:solidFill>
          <a:ln w="12700">
            <a:solidFill>
              <a:srgbClr val="F8E6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2286000"/>
            <a:ext cx="731520" cy="731520"/>
          </a:xfrm>
          <a:prstGeom prst="ellipse">
            <a:avLst/>
          </a:prstGeom>
          <a:solidFill>
            <a:srgbClr val="C8646E"/>
          </a:solidFill>
          <a:ln w="12700">
            <a:solidFill>
              <a:srgbClr val="C8646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4688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09160" y="3200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Аптека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37033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Фармацевт у кассы должен за 30 секунд объяснить, чем комплекс отличается и кому подходит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38160" y="2011680"/>
            <a:ext cx="3474720" cy="3017520"/>
          </a:xfrm>
          <a:prstGeom prst="roundRect">
            <a:avLst>
              <a:gd name="adj" fmla="val 7576"/>
            </a:avLst>
          </a:prstGeom>
          <a:solidFill>
            <a:srgbClr val="F8E6E6"/>
          </a:solidFill>
          <a:ln w="12700">
            <a:solidFill>
              <a:srgbClr val="F8E6E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58200" y="2286000"/>
            <a:ext cx="731520" cy="731520"/>
          </a:xfrm>
          <a:prstGeom prst="ellipse">
            <a:avLst/>
          </a:prstGeom>
          <a:solidFill>
            <a:srgbClr val="C8646E"/>
          </a:solidFill>
          <a:ln w="12700">
            <a:solidFill>
              <a:srgbClr val="C8646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4688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58200" y="3200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Врачи и медпреды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458200" y="37033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Нужны точные цифры состава и аргументы, которые не выходят за рамки зарегистрированного назначения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40080" y="5349240"/>
            <a:ext cx="10972800" cy="731520"/>
          </a:xfrm>
          <a:prstGeom prst="roundRect">
            <a:avLst>
              <a:gd name="adj" fmla="val 50000"/>
            </a:avLst>
          </a:prstGeom>
          <a:solidFill>
            <a:srgbClr val="2A1E1B"/>
          </a:solidFill>
          <a:ln w="12700">
            <a:solidFill>
              <a:srgbClr val="2A1E1B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1005840" y="53492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каждый отвечает своими словами. Риск — обещания, которых нет в регистрационных документах.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 ACTIVE × AI-консультант   · 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БАЗА ЗНАНИЙ — ЧЕТЫРЕ ГОЛОСА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аудитории, у каждой свои вопросы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60320" cy="4206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9D3D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685800" cy="685800"/>
          </a:xfrm>
          <a:prstGeom prst="ellipse">
            <a:avLst/>
          </a:prstGeom>
          <a:solidFill>
            <a:srgbClr val="C8646E"/>
          </a:solidFill>
          <a:ln w="12700">
            <a:solidFill>
              <a:srgbClr val="C8646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18313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Покупатель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33756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и когда принимать?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при беременности?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вместе с другими витаминами?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166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7A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Просто, тепло, без терминов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29000" y="1737360"/>
            <a:ext cx="2560320" cy="4206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9D3D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03320" y="2011680"/>
            <a:ext cx="685800" cy="685800"/>
          </a:xfrm>
          <a:prstGeom prst="ellipse">
            <a:avLst/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4770" y="2183130"/>
            <a:ext cx="342900" cy="342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703320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Фармацевт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703320" y="333756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 рекомендовать?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отличается от аналогов на полке?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 хранения, срок годности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703320" y="5166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7A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Коротко, для консультации у кассы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17920" y="1737360"/>
            <a:ext cx="2560320" cy="4206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9D3D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92240" y="2011680"/>
            <a:ext cx="685800" cy="685800"/>
          </a:xfrm>
          <a:prstGeom prst="ellipse">
            <a:avLst/>
          </a:prstGeom>
          <a:solidFill>
            <a:srgbClr val="2A1E1B"/>
          </a:solidFill>
          <a:ln w="12700">
            <a:solidFill>
              <a:srgbClr val="2A1E1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690" y="2183130"/>
            <a:ext cx="342900" cy="3429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92240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Врач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492240" y="333756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Точные дозировки компонентов, % нормы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Формы веществ (метилкобаламин, пиколинат цинка)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Противопоказания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492240" y="5166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7A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Точно, с цифрами и формами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006840" y="1737360"/>
            <a:ext cx="2560320" cy="4206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9D3D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281160" y="2011680"/>
            <a:ext cx="685800" cy="685800"/>
          </a:xfrm>
          <a:prstGeom prst="ellipse">
            <a:avLst/>
          </a:prstGeom>
          <a:solidFill>
            <a:srgbClr val="8C4A52"/>
          </a:solidFill>
          <a:ln w="12700">
            <a:solidFill>
              <a:srgbClr val="8C4A52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2610" y="2183130"/>
            <a:ext cx="342900" cy="3429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81160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Медпредставитель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9281160" y="333756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сообщения для визита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Ответы на возражения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биобустера пиперина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9281160" y="5166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7A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Аргументированно, в рамках согласованного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 ACTIVE × AI-консультант   · 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ПРИНЦИП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Согласуем не ответы, а «атомы» — проверенные утверждения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468880" cy="237744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48840"/>
            <a:ext cx="685800" cy="685800"/>
          </a:xfrm>
          <a:prstGeom prst="ellipse">
            <a:avLst/>
          </a:prstGeom>
          <a:solidFill>
            <a:srgbClr val="C8646E"/>
          </a:solidFill>
          <a:ln w="12700">
            <a:solidFill>
              <a:srgbClr val="C8646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32029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383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Этикетка, СГР, материалы бренда, FAQ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108960" y="27432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3474720" y="1920240"/>
            <a:ext cx="2468880" cy="237744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749040" y="2148840"/>
            <a:ext cx="685800" cy="685800"/>
          </a:xfrm>
          <a:prstGeom prst="ellipse">
            <a:avLst/>
          </a:prstGeom>
          <a:solidFill>
            <a:srgbClr val="C8646E"/>
          </a:solidFill>
          <a:ln w="12700">
            <a:solidFill>
              <a:srgbClr val="C8646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490" y="2320290"/>
            <a:ext cx="342900" cy="342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74904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Атомы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749040" y="3383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факт — отдельная запись с ID и аудиторией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943600" y="27432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6309360" y="1920240"/>
            <a:ext cx="2468880" cy="237744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583680" y="2148840"/>
            <a:ext cx="685800" cy="685800"/>
          </a:xfrm>
          <a:prstGeom prst="ellipse">
            <a:avLst/>
          </a:prstGeom>
          <a:solidFill>
            <a:srgbClr val="C8646E"/>
          </a:solidFill>
          <a:ln w="12700">
            <a:solidFill>
              <a:srgbClr val="C8646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130" y="2320290"/>
            <a:ext cx="342900" cy="3429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58368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Согласование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583680" y="3383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Юристы и медотдел утверждают один список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778240" y="27432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6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17"/>
          <p:cNvSpPr/>
          <p:nvPr/>
        </p:nvSpPr>
        <p:spPr>
          <a:xfrm>
            <a:off x="9144000" y="1920240"/>
            <a:ext cx="2468880" cy="237744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418320" y="2148840"/>
            <a:ext cx="685800" cy="685800"/>
          </a:xfrm>
          <a:prstGeom prst="ellipse">
            <a:avLst/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9770" y="2320290"/>
            <a:ext cx="342900" cy="3429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41832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9418320" y="3383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Нейросеть собирает текст только из атомов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640080" y="4663440"/>
            <a:ext cx="5349240" cy="14173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914400" y="475488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Готовые ответы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Сотни фраз на согласование, робот-тон, составной вопрос («я беременна и пью Омегу…») ломает систему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6263640" y="4663440"/>
            <a:ext cx="5349240" cy="1417320"/>
          </a:xfrm>
          <a:prstGeom prst="roundRect">
            <a:avLst>
              <a:gd name="adj" fmla="val 12903"/>
            </a:avLst>
          </a:prstGeom>
          <a:solidFill>
            <a:srgbClr val="2A1E1B"/>
          </a:solidFill>
          <a:ln w="12700">
            <a:solidFill>
              <a:srgbClr val="2A1E1B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6537960" y="475488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Атомарные утверждения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разы меньше текста на согласование, живой язык, любой составной вопрос — но ни одного нового факта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 ACTIVE × AI-консультант   · 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ВАШЕМ ПРОДУКТЕ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выглядит база атомов для комплекса «Кожа, волосы, ногти»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868680"/>
          </a:xfrm>
          <a:prstGeom prst="roundRect">
            <a:avLst>
              <a:gd name="adj" fmla="val 50000"/>
            </a:avLst>
          </a:prstGeom>
          <a:solidFill>
            <a:srgbClr val="F8E6E6"/>
          </a:solidFill>
          <a:ln w="12700">
            <a:solidFill>
              <a:srgbClr val="F8E6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01368"/>
            <a:ext cx="649224" cy="649224"/>
          </a:xfrm>
          <a:prstGeom prst="ellipse">
            <a:avLst/>
          </a:prstGeom>
          <a:solidFill>
            <a:srgbClr val="C8646E"/>
          </a:solidFill>
          <a:ln w="12700">
            <a:solidFill>
              <a:srgbClr val="C864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801368"/>
            <a:ext cx="64922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373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 ·  все</a:t>
            </a:r>
            <a:endParaRPr lang="en-US" sz="1000" dirty="0"/>
          </a:p>
          <a:p>
            <a:pPr indent="0" marL="0">
              <a:buNone/>
            </a:pPr>
            <a:r>
              <a:rPr lang="en-US" sz="125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БАД. Не является лекарственным средством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49240" cy="868680"/>
          </a:xfrm>
          <a:prstGeom prst="roundRect">
            <a:avLst>
              <a:gd name="adj" fmla="val 50000"/>
            </a:avLst>
          </a:prstGeom>
          <a:solidFill>
            <a:srgbClr val="F8E6E6"/>
          </a:solidFill>
          <a:ln w="12700">
            <a:solidFill>
              <a:srgbClr val="F8E6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7648" y="1801368"/>
            <a:ext cx="649224" cy="649224"/>
          </a:xfrm>
          <a:prstGeom prst="ellipse">
            <a:avLst/>
          </a:prstGeom>
          <a:solidFill>
            <a:srgbClr val="C8646E"/>
          </a:solidFill>
          <a:ln w="12700">
            <a:solidFill>
              <a:srgbClr val="C864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27648" y="1801368"/>
            <a:ext cx="64922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17373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 ·  все</a:t>
            </a:r>
            <a:endParaRPr lang="en-US" sz="1000" dirty="0"/>
          </a:p>
          <a:p>
            <a:pPr indent="0" marL="0">
              <a:buNone/>
            </a:pPr>
            <a:r>
              <a:rPr lang="en-US" sz="125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Взрослым по 1 капсуле в день во время приёма пищи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715768"/>
            <a:ext cx="5349240" cy="868680"/>
          </a:xfrm>
          <a:prstGeom prst="roundRect">
            <a:avLst>
              <a:gd name="adj" fmla="val 50000"/>
            </a:avLst>
          </a:prstGeom>
          <a:solidFill>
            <a:srgbClr val="F8E6E6"/>
          </a:solidFill>
          <a:ln w="12700">
            <a:solidFill>
              <a:srgbClr val="F8E6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2825496"/>
            <a:ext cx="649224" cy="649224"/>
          </a:xfrm>
          <a:prstGeom prst="ellipse">
            <a:avLst/>
          </a:prstGeom>
          <a:solidFill>
            <a:srgbClr val="C8646E"/>
          </a:solidFill>
          <a:ln w="12700">
            <a:solidFill>
              <a:srgbClr val="C864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2825496"/>
            <a:ext cx="64922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2761488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 ·  все</a:t>
            </a:r>
            <a:endParaRPr lang="en-US" sz="1000" dirty="0"/>
          </a:p>
          <a:p>
            <a:pPr indent="0" marL="0">
              <a:buNone/>
            </a:pPr>
            <a:r>
              <a:rPr lang="en-US" sz="125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Продолжительность приёма — 1 месяц; при необходимости приём можно повторить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715768"/>
            <a:ext cx="5349240" cy="868680"/>
          </a:xfrm>
          <a:prstGeom prst="roundRect">
            <a:avLst>
              <a:gd name="adj" fmla="val 50000"/>
            </a:avLst>
          </a:prstGeom>
          <a:solidFill>
            <a:srgbClr val="F8E6E6"/>
          </a:solidFill>
          <a:ln w="12700">
            <a:solidFill>
              <a:srgbClr val="F8E6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27648" y="2825496"/>
            <a:ext cx="649224" cy="649224"/>
          </a:xfrm>
          <a:prstGeom prst="ellipse">
            <a:avLst/>
          </a:prstGeom>
          <a:solidFill>
            <a:srgbClr val="C8646E"/>
          </a:solidFill>
          <a:ln w="12700">
            <a:solidFill>
              <a:srgbClr val="C864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27648" y="2825496"/>
            <a:ext cx="64922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A07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2761488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Особые группы  ·  все</a:t>
            </a:r>
            <a:endParaRPr lang="en-US" sz="1000" dirty="0"/>
          </a:p>
          <a:p>
            <a:pPr indent="0" marL="0">
              <a:buNone/>
            </a:pPr>
            <a:r>
              <a:rPr lang="en-US" sz="125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Беременным и кормящим перед применением рекомендуется проконсультироваться с врачом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739896"/>
            <a:ext cx="5349240" cy="868680"/>
          </a:xfrm>
          <a:prstGeom prst="roundRect">
            <a:avLst>
              <a:gd name="adj" fmla="val 50000"/>
            </a:avLst>
          </a:prstGeom>
          <a:solidFill>
            <a:srgbClr val="F8E6E6"/>
          </a:solidFill>
          <a:ln w="12700">
            <a:solidFill>
              <a:srgbClr val="F8E6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3849624"/>
            <a:ext cx="649224" cy="649224"/>
          </a:xfrm>
          <a:prstGeom prst="ellipse">
            <a:avLst/>
          </a:prstGeom>
          <a:solidFill>
            <a:srgbClr val="C8646E"/>
          </a:solidFill>
          <a:ln w="12700">
            <a:solidFill>
              <a:srgbClr val="C864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" y="3849624"/>
            <a:ext cx="64922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A12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3785616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  ·  врач, фармацевт</a:t>
            </a:r>
            <a:endParaRPr lang="en-US" sz="1000" dirty="0"/>
          </a:p>
          <a:p>
            <a:pPr indent="0" marL="0">
              <a:buNone/>
            </a:pPr>
            <a:r>
              <a:rPr lang="en-US" sz="125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Биотин (D-биотин) — 100 мкг, 200% от нормы потребления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3739896"/>
            <a:ext cx="5349240" cy="868680"/>
          </a:xfrm>
          <a:prstGeom prst="roundRect">
            <a:avLst>
              <a:gd name="adj" fmla="val 50000"/>
            </a:avLst>
          </a:prstGeom>
          <a:solidFill>
            <a:srgbClr val="F8E6E6"/>
          </a:solidFill>
          <a:ln w="12700">
            <a:solidFill>
              <a:srgbClr val="F8E6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27648" y="3849624"/>
            <a:ext cx="649224" cy="649224"/>
          </a:xfrm>
          <a:prstGeom prst="ellipse">
            <a:avLst/>
          </a:prstGeom>
          <a:solidFill>
            <a:srgbClr val="C8646E"/>
          </a:solidFill>
          <a:ln w="12700">
            <a:solidFill>
              <a:srgbClr val="C8646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27648" y="3849624"/>
            <a:ext cx="64922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3785616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  ·  врач, медпред</a:t>
            </a:r>
            <a:endParaRPr lang="en-US" sz="1000" dirty="0"/>
          </a:p>
          <a:p>
            <a:pPr indent="0" marL="0">
              <a:buNone/>
            </a:pPr>
            <a:r>
              <a:rPr lang="en-US" sz="125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Витамин B12 в форме метилкобаламина — 2,5 мкг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4764024"/>
            <a:ext cx="5349240" cy="868680"/>
          </a:xfrm>
          <a:prstGeom prst="roundRect">
            <a:avLst>
              <a:gd name="adj" fmla="val 50000"/>
            </a:avLst>
          </a:prstGeom>
          <a:solidFill>
            <a:srgbClr val="F8E6E6"/>
          </a:solidFill>
          <a:ln w="12700">
            <a:solidFill>
              <a:srgbClr val="F8E6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" y="4873752"/>
            <a:ext cx="649224" cy="649224"/>
          </a:xfrm>
          <a:prstGeom prst="ellipse">
            <a:avLst/>
          </a:prstGeom>
          <a:solidFill>
            <a:srgbClr val="C8646E"/>
          </a:solidFill>
          <a:ln w="12700">
            <a:solidFill>
              <a:srgbClr val="C8646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9808" y="4873752"/>
            <a:ext cx="64922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A21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554480" y="4809744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Биобустер  ·  все</a:t>
            </a:r>
            <a:endParaRPr lang="en-US" sz="1000" dirty="0"/>
          </a:p>
          <a:p>
            <a:pPr indent="0" marL="0">
              <a:buNone/>
            </a:pPr>
            <a:r>
              <a:rPr lang="en-US" sz="125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Содержит пиперин (2 мг) и куркуминоиды (5 мг)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4764024"/>
            <a:ext cx="5349240" cy="868680"/>
          </a:xfrm>
          <a:prstGeom prst="roundRect">
            <a:avLst>
              <a:gd name="adj" fmla="val 50000"/>
            </a:avLst>
          </a:prstGeom>
          <a:solidFill>
            <a:srgbClr val="F8E6E6"/>
          </a:solidFill>
          <a:ln w="12700">
            <a:solidFill>
              <a:srgbClr val="F8E6E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27648" y="4873752"/>
            <a:ext cx="649224" cy="649224"/>
          </a:xfrm>
          <a:prstGeom prst="ellipse">
            <a:avLst/>
          </a:prstGeom>
          <a:solidFill>
            <a:srgbClr val="C8646E"/>
          </a:solidFill>
          <a:ln w="12700">
            <a:solidFill>
              <a:srgbClr val="C8646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27648" y="4873752"/>
            <a:ext cx="64922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A30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132320" y="4809744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  ·  фармацевт</a:t>
            </a:r>
            <a:endParaRPr lang="en-US" sz="1000" dirty="0"/>
          </a:p>
          <a:p>
            <a:pPr indent="0" marL="0">
              <a:buNone/>
            </a:pPr>
            <a:r>
              <a:rPr lang="en-US" sz="125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сухом месте при температуре не выше +25 °C; срок годности 36 месяцев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Формулировки взяты с упаковки. Оценка для одного БАД: 60–100 атомов + ~40 общих атомов бренда (биобустеры, GMP/ISO, «без глютена, сахара, ГМО…»).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 ACTIVE × AI-консультант   · 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1E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3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ЗВУЧИТ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вопроса — три ответа, каждое предложение с источником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ПОКУПАТЕЛЬ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0" y="1965960"/>
            <a:ext cx="2926080" cy="868680"/>
          </a:xfrm>
          <a:prstGeom prst="roundRect">
            <a:avLst>
              <a:gd name="adj" fmla="val 21053"/>
            </a:avLst>
          </a:prstGeom>
          <a:solidFill>
            <a:srgbClr val="C8646E"/>
          </a:solidFill>
          <a:ln w="12700">
            <a:solidFill>
              <a:srgbClr val="C864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71600" y="196596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беременна, мне можно эти витамины?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3291840" cy="219456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3154680"/>
            <a:ext cx="29077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 время беременности и кормления грудью перед приёмом комплекса рекомендуется проконсультироваться с врачом. Если хотите, расскажу подробнее о составе — это поможет в разговоре с ним.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539496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5394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A07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ФАРМАЦЕВТ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1965960"/>
            <a:ext cx="2926080" cy="868680"/>
          </a:xfrm>
          <a:prstGeom prst="roundRect">
            <a:avLst>
              <a:gd name="adj" fmla="val 21053"/>
            </a:avLst>
          </a:prstGeom>
          <a:solidFill>
            <a:srgbClr val="C8646E"/>
          </a:solidFill>
          <a:ln w="12700">
            <a:solidFill>
              <a:srgbClr val="C864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0640" y="196596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биотина в капсуле и какой курс?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89120" y="3017520"/>
            <a:ext cx="3291840" cy="219456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90288" y="3154680"/>
            <a:ext cx="29077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одной капсуле 100 мкг биотина — 200% от нормы потребления. Приём: взрослым по 1 капсуле в день во время еды, курс 1 месяц, при необходимости его можно повторить.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89120" y="539496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89120" y="5394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A12 · A03 · A04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ЛОВУШКА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86800" y="1965960"/>
            <a:ext cx="2926080" cy="868680"/>
          </a:xfrm>
          <a:prstGeom prst="roundRect">
            <a:avLst>
              <a:gd name="adj" fmla="val 21053"/>
            </a:avLst>
          </a:prstGeom>
          <a:solidFill>
            <a:srgbClr val="C8646E"/>
          </a:solidFill>
          <a:ln w="12700">
            <a:solidFill>
              <a:srgbClr val="C864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69680" y="196596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вылечит выпадение волос после болезни?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38160" y="3017520"/>
            <a:ext cx="3291840" cy="219456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39328" y="3154680"/>
            <a:ext cx="29077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Комплекс — биологически активная добавка и не является лекарственным средством. С вопросом о лечении лучше обратиться к врачу-трихологу или дерматологу.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138160" y="539496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38160" y="5394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 + служебный ответ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 ACTIVE × AI-консультант   · 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КАПОТОМ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шагов между вопросом и ответом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85800" cy="685800"/>
          </a:xfrm>
          <a:prstGeom prst="ellipse">
            <a:avLst/>
          </a:prstGeom>
          <a:solidFill>
            <a:srgbClr val="C8646E"/>
          </a:solidFill>
          <a:ln w="12700">
            <a:solidFill>
              <a:srgbClr val="C864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81737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6459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Фильтры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3566160" y="16459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Распознаём жалобы на самочувствие, вопросы не о продукте, провокации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542032"/>
            <a:ext cx="685800" cy="685800"/>
          </a:xfrm>
          <a:prstGeom prst="ellipse">
            <a:avLst/>
          </a:prstGeom>
          <a:solidFill>
            <a:srgbClr val="C8646E"/>
          </a:solidFill>
          <a:ln w="12700">
            <a:solidFill>
              <a:srgbClr val="C8646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" y="2713482"/>
            <a:ext cx="342900" cy="3429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254203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3566160" y="254203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Отбираем 3–10 подходящих атомов с учётом аудитории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3438144"/>
            <a:ext cx="685800" cy="685800"/>
          </a:xfrm>
          <a:prstGeom prst="ellipse">
            <a:avLst/>
          </a:prstGeom>
          <a:solidFill>
            <a:srgbClr val="C8646E"/>
          </a:solidFill>
          <a:ln w="12700">
            <a:solidFill>
              <a:srgbClr val="C8646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" y="3609594"/>
            <a:ext cx="342900" cy="3429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54480" y="3438144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Сборка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3566160" y="3438144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Нейросеть формулирует ответ только из этих атомов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4334256"/>
            <a:ext cx="685800" cy="685800"/>
          </a:xfrm>
          <a:prstGeom prst="ellipse">
            <a:avLst/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" y="4505706"/>
            <a:ext cx="342900" cy="3429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334256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3566160" y="433425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проход + правила: цифры, стоп-слова, ссылки на ID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40080" y="5230368"/>
            <a:ext cx="685800" cy="685800"/>
          </a:xfrm>
          <a:prstGeom prst="ellipse">
            <a:avLst/>
          </a:prstGeom>
          <a:solidFill>
            <a:srgbClr val="C8646E"/>
          </a:solidFill>
          <a:ln w="12700">
            <a:solidFill>
              <a:srgbClr val="C8646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30" y="5401818"/>
            <a:ext cx="342900" cy="3429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554480" y="523036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3566160" y="523036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Прошло проверку — ответ; нет — безопасная служебная фраза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7955280" y="1645920"/>
            <a:ext cx="3657600" cy="4297680"/>
          </a:xfrm>
          <a:prstGeom prst="roundRect">
            <a:avLst>
              <a:gd name="adj" fmla="val 6250"/>
            </a:avLst>
          </a:prstGeom>
          <a:solidFill>
            <a:srgbClr val="2A1E1B"/>
          </a:solidFill>
          <a:ln w="12700">
            <a:solidFill>
              <a:srgbClr val="2A1E1B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8275320" y="1874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9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это гарантирует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8275320" y="24688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фактов вне согласованного списка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предложение можно проследить до источника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диалоги в журнале для аудита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Непонятный вопрос — не импровизация, а «уточните у специалиста»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 ACTIVE × AI-консультант   · 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ИГРЫ ДЛЯ БАД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закладываем в бота с первого дня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178308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11680"/>
            <a:ext cx="685800" cy="685800"/>
          </a:xfrm>
          <a:prstGeom prst="ellipse">
            <a:avLst/>
          </a:prstGeom>
          <a:solidFill>
            <a:srgbClr val="C8646E"/>
          </a:solidFill>
          <a:ln w="12700">
            <a:solidFill>
              <a:srgbClr val="C8646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18313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1965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Никаких лечебных обещаний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468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не говорит «лечит», «излечивает», «гарантирует результат» — только зарегистрированное назначение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737360"/>
            <a:ext cx="5349240" cy="178308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2011680"/>
            <a:ext cx="685800" cy="685800"/>
          </a:xfrm>
          <a:prstGeom prst="ellipse">
            <a:avLst/>
          </a:prstGeom>
          <a:solidFill>
            <a:srgbClr val="C8646E"/>
          </a:solidFill>
          <a:ln w="12700">
            <a:solidFill>
              <a:srgbClr val="C8646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690" y="218313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06640" y="1965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Обязательные пометки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406640" y="2468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«БАД, не является лекарственным средством» и рекомендация консультации с врачом — там, где это требуется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749040"/>
            <a:ext cx="5349240" cy="178308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4023360"/>
            <a:ext cx="685800" cy="685800"/>
          </a:xfrm>
          <a:prstGeom prst="ellipse">
            <a:avLst/>
          </a:prstGeom>
          <a:solidFill>
            <a:srgbClr val="C8646E"/>
          </a:solidFill>
          <a:ln w="12700">
            <a:solidFill>
              <a:srgbClr val="C8646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419481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28800" y="3977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сравнения с конкурентами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828800" y="44805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не оценивает чужие продукты — только рассказывает о своём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17920" y="3749040"/>
            <a:ext cx="5349240" cy="178308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92240" y="4023360"/>
            <a:ext cx="685800" cy="685800"/>
          </a:xfrm>
          <a:prstGeom prst="ellipse">
            <a:avLst/>
          </a:prstGeom>
          <a:solidFill>
            <a:srgbClr val="C8646E"/>
          </a:solidFill>
          <a:ln w="12700">
            <a:solidFill>
              <a:srgbClr val="C8646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690" y="419481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06640" y="3977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Сигналы о самочувствии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406640" y="44805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«После приёма появилась сыпь» — фиксируем обращение и передаём в отдел качества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Итоговый список правил и стоп-слов согласуем с вашими юристами.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 ACTIVE × AI-консультант   · 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УПАКОВКА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база — много точек контакта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74720" cy="1920240"/>
          </a:xfrm>
          <a:prstGeom prst="roundRect">
            <a:avLst>
              <a:gd name="adj" fmla="val 9524"/>
            </a:avLst>
          </a:prstGeom>
          <a:solidFill>
            <a:srgbClr val="F8E6E6"/>
          </a:solidFill>
          <a:ln w="12700">
            <a:solidFill>
              <a:srgbClr val="F8E6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11680"/>
            <a:ext cx="640080" cy="640080"/>
          </a:xfrm>
          <a:prstGeom prst="ellipse">
            <a:avLst/>
          </a:prstGeom>
          <a:solidFill>
            <a:srgbClr val="C8646E"/>
          </a:solidFill>
          <a:ln w="12700">
            <a:solidFill>
              <a:srgbClr val="C8646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1717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011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spiceactive.com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7432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Виджет рядом с карточкой продукта и в разделе «Вопросы»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0" y="1737360"/>
            <a:ext cx="3474720" cy="1920240"/>
          </a:xfrm>
          <a:prstGeom prst="roundRect">
            <a:avLst>
              <a:gd name="adj" fmla="val 9524"/>
            </a:avLst>
          </a:prstGeom>
          <a:solidFill>
            <a:srgbClr val="F8E6E6"/>
          </a:solidFill>
          <a:ln w="12700">
            <a:solidFill>
              <a:srgbClr val="F8E6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2011680"/>
            <a:ext cx="640080" cy="640080"/>
          </a:xfrm>
          <a:prstGeom prst="ellipse">
            <a:avLst/>
          </a:prstGeom>
          <a:solidFill>
            <a:srgbClr val="C8646E"/>
          </a:solidFill>
          <a:ln w="12700">
            <a:solidFill>
              <a:srgbClr val="C8646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460" y="21717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0" y="2011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Telegram-бот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27432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Консультации покупателей, напоминания о курсе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38160" y="1737360"/>
            <a:ext cx="3474720" cy="1920240"/>
          </a:xfrm>
          <a:prstGeom prst="roundRect">
            <a:avLst>
              <a:gd name="adj" fmla="val 9524"/>
            </a:avLst>
          </a:prstGeom>
          <a:solidFill>
            <a:srgbClr val="F8E6E6"/>
          </a:solidFill>
          <a:ln w="12700">
            <a:solidFill>
              <a:srgbClr val="F8E6E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2480" y="2011680"/>
            <a:ext cx="640080" cy="640080"/>
          </a:xfrm>
          <a:prstGeom prst="ellipse">
            <a:avLst/>
          </a:prstGeom>
          <a:solidFill>
            <a:srgbClr val="C8646E"/>
          </a:solidFill>
          <a:ln w="12700">
            <a:solidFill>
              <a:srgbClr val="C8646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21717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235440" y="2011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Ozon и Wildberries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27432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Черновики ответов на вопросы в карточках — менеджер только подтверждает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3931920"/>
            <a:ext cx="3474720" cy="1920240"/>
          </a:xfrm>
          <a:prstGeom prst="roundRect">
            <a:avLst>
              <a:gd name="adj" fmla="val 9524"/>
            </a:avLst>
          </a:prstGeom>
          <a:solidFill>
            <a:srgbClr val="F8E6E6"/>
          </a:solidFill>
          <a:ln w="12700">
            <a:solidFill>
              <a:srgbClr val="F8E6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4400" y="4206240"/>
            <a:ext cx="640080" cy="640080"/>
          </a:xfrm>
          <a:prstGeom prst="ellipse">
            <a:avLst/>
          </a:prstGeom>
          <a:solidFill>
            <a:srgbClr val="C8646E"/>
          </a:solidFill>
          <a:ln w="12700">
            <a:solidFill>
              <a:srgbClr val="C8646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" y="436626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737360" y="4206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аптек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14400" y="49377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справочник фармацевта: кому, как, чем отличается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389120" y="3931920"/>
            <a:ext cx="3474720" cy="1920240"/>
          </a:xfrm>
          <a:prstGeom prst="roundRect">
            <a:avLst>
              <a:gd name="adj" fmla="val 9524"/>
            </a:avLst>
          </a:prstGeom>
          <a:solidFill>
            <a:srgbClr val="F8E6E6"/>
          </a:solidFill>
          <a:ln w="12700">
            <a:solidFill>
              <a:srgbClr val="F8E6E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63440" y="4206240"/>
            <a:ext cx="640080" cy="640080"/>
          </a:xfrm>
          <a:prstGeom prst="ellipse">
            <a:avLst/>
          </a:prstGeom>
          <a:solidFill>
            <a:srgbClr val="C8646E"/>
          </a:solidFill>
          <a:ln w="12700">
            <a:solidFill>
              <a:srgbClr val="C8646E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3460" y="436626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486400" y="4206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медпредов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663440" y="49377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Ассистент перед визитом: ключевые сообщения и ответы на возражения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138160" y="3931920"/>
            <a:ext cx="3474720" cy="1920240"/>
          </a:xfrm>
          <a:prstGeom prst="roundRect">
            <a:avLst>
              <a:gd name="adj" fmla="val 9524"/>
            </a:avLst>
          </a:prstGeom>
          <a:solidFill>
            <a:srgbClr val="2A1E1B"/>
          </a:solidFill>
          <a:ln w="12700">
            <a:solidFill>
              <a:srgbClr val="2A1E1B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12480" y="4206240"/>
            <a:ext cx="640080" cy="640080"/>
          </a:xfrm>
          <a:prstGeom prst="ellipse">
            <a:avLst/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436626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235440" y="4206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Вся линейка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412480" y="49377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продуктов бренда подключаются к той же базе, общие атомы переиспользуются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 ACTIVE × AI-консультант   · 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СТАРТУЕМ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 на одном продукте — 4 недели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487168"/>
            <a:ext cx="10607040" cy="146304"/>
          </a:xfrm>
          <a:prstGeom prst="roundRect">
            <a:avLst>
              <a:gd name="adj" fmla="val 50000"/>
            </a:avLst>
          </a:prstGeom>
          <a:solidFill>
            <a:srgbClr val="E9D3D3"/>
          </a:solidFill>
          <a:ln w="12700">
            <a:solidFill>
              <a:srgbClr val="E9D3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94560"/>
            <a:ext cx="731520" cy="731520"/>
          </a:xfrm>
          <a:prstGeom prst="ellipse">
            <a:avLst/>
          </a:prstGeom>
          <a:solidFill>
            <a:srgbClr val="C8646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00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НЕДЕЛЯ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20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Разбор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02336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Раскладываем этикетку, СГР и материалы бренда на атомы, размечаем аудитории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20440" y="2194560"/>
            <a:ext cx="731520" cy="731520"/>
          </a:xfrm>
          <a:prstGeom prst="ellipse">
            <a:avLst/>
          </a:prstGeom>
          <a:solidFill>
            <a:srgbClr val="C8646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3200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НЕДЕЛЯ 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3520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Согласование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402336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Юристы и медотдел правят и утверждают единый список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2194560"/>
            <a:ext cx="731520" cy="731520"/>
          </a:xfrm>
          <a:prstGeom prst="ellipse">
            <a:avLst/>
          </a:prstGeom>
          <a:solidFill>
            <a:srgbClr val="C8646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3200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НЕДЕЛЯ 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3520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Сборка и тест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402336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Настраиваем бота, прогоняем 200+ вопросов, половина — «ловушки»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098280" y="2194560"/>
            <a:ext cx="731520" cy="731520"/>
          </a:xfrm>
          <a:prstGeom prst="ellipse">
            <a:avLst/>
          </a:prstGeom>
          <a:solidFill>
            <a:srgbClr val="E39B2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9828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006840" y="3200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НЕДЕЛЯ 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006840" y="3520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006840" y="402336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в одном канале, журнал диалогов, отчёт по вопросам без ответа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394960"/>
            <a:ext cx="10972800" cy="731520"/>
          </a:xfrm>
          <a:prstGeom prst="roundRect">
            <a:avLst>
              <a:gd name="adj" fmla="val 50000"/>
            </a:avLst>
          </a:prstGeom>
          <a:solidFill>
            <a:srgbClr val="F8E6E6"/>
          </a:solidFill>
          <a:ln w="12700">
            <a:solidFill>
              <a:srgbClr val="F8E6E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5840" y="53949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пилота: работающий бот, согласованная база атомов, реальная статистика вопросов и понятная оценка масштабирования на линейку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 ACTIVE × AI-консультант   · 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A1E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3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ОБСУДИМ СЕГОДНЯ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нам нужно от вас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7498080" cy="914400"/>
          </a:xfrm>
          <a:prstGeom prst="roundRect">
            <a:avLst>
              <a:gd name="adj" fmla="val 50000"/>
            </a:avLst>
          </a:prstGeom>
          <a:solidFill>
            <a:srgbClr val="3A2B27"/>
          </a:solidFill>
          <a:ln w="12700">
            <a:solidFill>
              <a:srgbClr val="3A2B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rgbClr val="C8646E"/>
          </a:solidFill>
          <a:ln w="12700">
            <a:solidFill>
              <a:srgbClr val="C864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69164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Материалы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E5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Этикетки, СГР, обучающие материалы для медпредов и аптек, FAQ, выгрузка вопросов с маркетплейсов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7498080" cy="914400"/>
          </a:xfrm>
          <a:prstGeom prst="roundRect">
            <a:avLst>
              <a:gd name="adj" fmla="val 50000"/>
            </a:avLst>
          </a:prstGeom>
          <a:solidFill>
            <a:srgbClr val="3A2B27"/>
          </a:solidFill>
          <a:ln w="12700">
            <a:solidFill>
              <a:srgbClr val="3A2B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880360"/>
            <a:ext cx="640080" cy="640080"/>
          </a:xfrm>
          <a:prstGeom prst="ellipse">
            <a:avLst/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27889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E5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какого продукта и какого канала начинаем пилот?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7498080" cy="914400"/>
          </a:xfrm>
          <a:prstGeom prst="roundRect">
            <a:avLst>
              <a:gd name="adj" fmla="val 50000"/>
            </a:avLst>
          </a:prstGeom>
          <a:solidFill>
            <a:srgbClr val="3A2B27"/>
          </a:solidFill>
          <a:ln w="12700">
            <a:solidFill>
              <a:srgbClr val="3A2B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977640"/>
            <a:ext cx="640080" cy="640080"/>
          </a:xfrm>
          <a:prstGeom prst="ellipse">
            <a:avLst/>
          </a:prstGeom>
          <a:solidFill>
            <a:srgbClr val="C8646E"/>
          </a:solidFill>
          <a:ln w="12700">
            <a:solidFill>
              <a:srgbClr val="C864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388620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Согласование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E5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у вас утверждает формулировки и сколько обычно занимает цикл?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7498080" cy="914400"/>
          </a:xfrm>
          <a:prstGeom prst="roundRect">
            <a:avLst>
              <a:gd name="adj" fmla="val 50000"/>
            </a:avLst>
          </a:prstGeom>
          <a:solidFill>
            <a:srgbClr val="3A2B27"/>
          </a:solidFill>
          <a:ln w="12700">
            <a:solidFill>
              <a:srgbClr val="3A2B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074920"/>
            <a:ext cx="640080" cy="640080"/>
          </a:xfrm>
          <a:prstGeom prst="ellipse">
            <a:avLst/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5074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498348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Успех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E5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метрики важны: снижение нагрузки на поддержку, скорость ответов, конверсия?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 rot="-1800000">
            <a:off x="8961120" y="2103120"/>
            <a:ext cx="2560320" cy="1005840"/>
          </a:xfrm>
          <a:prstGeom prst="roundRect">
            <a:avLst>
              <a:gd name="adj" fmla="val 50000"/>
            </a:avLst>
          </a:prstGeom>
          <a:solidFill>
            <a:srgbClr val="C8646E"/>
          </a:solidFill>
          <a:ln w="12700">
            <a:solidFill>
              <a:srgbClr val="C864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200000">
            <a:off x="9326880" y="3657600"/>
            <a:ext cx="2011680" cy="777240"/>
          </a:xfrm>
          <a:prstGeom prst="roundRect">
            <a:avLst>
              <a:gd name="adj" fmla="val 50000"/>
            </a:avLst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-3000000">
            <a:off x="8778240" y="4937760"/>
            <a:ext cx="1371600" cy="530352"/>
          </a:xfrm>
          <a:prstGeom prst="roundRect">
            <a:avLst>
              <a:gd name="adj" fmla="val 50000"/>
            </a:avLst>
          </a:prstGeom>
          <a:solidFill>
            <a:srgbClr val="E5D6D3"/>
          </a:solidFill>
          <a:ln w="12700">
            <a:solidFill>
              <a:srgbClr val="E5D6D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 ACTIVE × AI-консультант   ·  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AI-консультант по продукту — SPICE ACTIVE</dc:title>
  <dc:subject>PptxGenJS Presentation</dc:subject>
  <dc:creator>PptxGenJS</dc:creator>
  <cp:lastModifiedBy>PptxGenJS</cp:lastModifiedBy>
  <cp:revision>1</cp:revision>
  <dcterms:created xsi:type="dcterms:W3CDTF">2026-09-29T07:27:33Z</dcterms:created>
  <dcterms:modified xsi:type="dcterms:W3CDTF">2026-09-29T07:27:33Z</dcterms:modified>
</cp:coreProperties>
</file>